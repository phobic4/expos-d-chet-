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g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2" r:id="rId5"/>
    <p:sldId id="263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e l'en-tête 1">
            <a:extLst>
              <a:ext uri="{FF2B5EF4-FFF2-40B4-BE49-F238E27FC236}">
                <a16:creationId xmlns:a16="http://schemas.microsoft.com/office/drawing/2014/main" id="{5D4AD707-7E58-A2CA-438D-E974E27D44C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9" name="Espace réservé de la date 2">
            <a:extLst>
              <a:ext uri="{FF2B5EF4-FFF2-40B4-BE49-F238E27FC236}">
                <a16:creationId xmlns:a16="http://schemas.microsoft.com/office/drawing/2014/main" id="{80713CCE-95EE-1B12-D931-B03E771140E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B92F903-D753-4032-BD31-8EA141932B60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10" name="Espace réservé de l'image des diapositives 3">
            <a:extLst>
              <a:ext uri="{FF2B5EF4-FFF2-40B4-BE49-F238E27FC236}">
                <a16:creationId xmlns:a16="http://schemas.microsoft.com/office/drawing/2014/main" id="{0B99DC8C-EBA5-84D2-1AE3-4FCA883CF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11" name="Espace réservé des notes 4">
            <a:extLst>
              <a:ext uri="{FF2B5EF4-FFF2-40B4-BE49-F238E27FC236}">
                <a16:creationId xmlns:a16="http://schemas.microsoft.com/office/drawing/2014/main" id="{CEA684F9-901C-3876-9770-C0D3E49AA1F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pied de page 5">
            <a:extLst>
              <a:ext uri="{FF2B5EF4-FFF2-40B4-BE49-F238E27FC236}">
                <a16:creationId xmlns:a16="http://schemas.microsoft.com/office/drawing/2014/main" id="{03F0CDEB-01CB-B8E9-64D5-B6D477F8D3C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FABCCF1E-79FF-5E52-2E58-235116A458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A07F293-5911-4DFB-897E-AB4141C66162}" type="slidenum">
              <a:t>‹N°›</a:t>
            </a:fld>
            <a:endParaRPr lang="fr-FR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41AD1-6ECE-426E-92F1-DA39199AEC1F}" type="datetimeFigureOut">
              <a:t>24/09/2026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C643F-264A-4B98-9D7E-3D789178E83B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3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151CC2-ADE5-11FB-FAEA-3AEBB1FEDD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E213EC-B747-C456-CFA1-9F82AB85DD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B9451F-AFF7-15FA-3ED2-10B013443D3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E2F4DB5-820B-4378-A851-216E1EEEF09B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A17447-EFC4-DC52-441F-59D8D59798D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DAE051-C4F6-8D85-8851-FD74473B2A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F17F5C9-AA4C-482D-8BFD-00296BB5B23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0566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0829F-F3B3-60E3-2CA6-E7E894E18B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0E6115-4BA2-8175-5B26-59BC83EB391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0C3C8F-5856-3CCE-29EC-1987BF18C9C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55D8333-E678-4079-89A6-142D051E1AD7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D4B741-AF22-2D8B-36AB-05048711A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8E1113-EF7A-0005-4FD7-AED48E2B88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26C872CC-BDB6-4C0B-9208-AA2FD2FEE03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9670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66601-CD46-0274-1AC9-3B3BB2B58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6CFD63-FAB0-B936-7245-A6202F91A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4676DB-C578-2184-9328-0E6CC7B4EF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BBC65E88-0B2A-4F4E-8D1E-0189258FA5CD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156718-A8B6-1C3B-F8B2-911501D225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20E07C-6D25-02BF-6B4A-AB7A55470E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61C4D86E-9257-4428-A415-32D467B25F8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77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4EC25B-0442-AD05-C535-5C37D63D4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16CBD-8BC3-1A11-C84C-4B8865BF068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FD8071-728D-CDE6-3B8A-77F6B5A76ED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BB9A29-02CB-32F7-287B-E6EA4E8084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2683F802-72E4-452D-90BE-057EAB4F9C85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57C214-6068-03B1-E766-CF70804FFF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237899-CD31-E0EB-8ADD-CD9363276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6E540D95-8C86-47A0-BF38-F59BFB7D91C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79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923EA-C132-CA0B-BE5B-BDAEF8E75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42723-0FAC-829B-9204-30F2720E8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00275A-200F-CF65-787D-162D7C89B3D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9B2947A-B4EE-91E2-2D40-DE7F97D9F38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6D81D80-9E92-436E-BD9E-1E52CFEDB7D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18D3201-BC62-F7E3-105C-69F90371F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4A367CE-EE03-42CF-9DAA-4D940AAD31B0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172DEFD-08D8-1CDF-97A0-B792528C50E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856EF7-BAF4-81F3-2779-72E3B3D80E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1733D79B-D314-4D9D-BDE3-D2BA14830EA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67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07B22C-714A-85C8-F3D2-97B538C9D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2D57FD9-FAA7-13A0-7D2E-134500ACE17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ECC90DE-CBA1-49E4-802E-35181A1C159A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4FD607-5BD5-FBE0-46CD-A9B5DE19F1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31CE41-0A39-A1AB-19C2-3CFD55E901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3EDAFA38-4A3C-4C26-AFB8-CA406D01E32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54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2460F3B-B976-836D-53EB-5F0784CDFEB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A36EBAF-6D62-419B-A065-331718B339D4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6553A0-DCA1-4E6C-2F4D-E055B24018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668386-B537-F79C-B51E-DA047E1383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62E748E-5FD3-4820-AE15-6F257AD860B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7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568FB-8B37-F587-3DA1-D2C5D2B1D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40BC0B-6AC2-C7A3-92A5-C1F1C945DE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BA9486-A55D-EF38-1584-6525A5A0492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91E12C-88A6-2E8C-0793-7DCC13DA34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B60E7B80-6856-4E75-8AB3-8AD8F02F63F9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2CC7E9-3888-6124-C63A-5E8D3211533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613AED-CE11-54DA-8F8D-19344A1F49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57CECAC-16B6-4B3F-8656-29273BD5DB8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596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64E98-3349-92C5-635A-1BC0758C2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69C70B-66FD-D9F3-C3BF-7FE05994BF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42B1FD-3BD8-18C6-C016-4374F24F41E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3AB991-9B85-AFB6-6900-66251377A4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38370BFA-D058-4E0C-B4B7-787B02EDF614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416093-9872-E4D7-28E0-AC655572B4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210FCE-02D3-09B3-B937-AAEA56BE9D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96B3C87-3ACC-467E-8285-6351B9E0874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0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E76C0-BA48-7BD4-17ED-1B6604C26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D94E7E-65CE-4B82-1D44-E637CB71798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1825627"/>
            <a:ext cx="10515600" cy="4351336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A106BF-16AD-AF65-E351-AD2AD6378E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B64B604D-6572-4DAC-BF03-0C2C32D93A38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B2A293-0435-F9A0-3367-9BABF7F0F1C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C33BFF-C910-E7E7-3389-3D2C3CE13D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AD3DA55-A52C-4B20-8FE8-53D9CE38443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50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A391C5-ED9F-C66C-0BB1-11C9CBCDD0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437B9F-924F-E3ED-D058-7B43E843EE0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F23F22-805E-C421-1AE3-94453F223E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E09A5569-2DCD-4E8B-BD8B-39AE03186B4D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282C4F-341A-1ED2-67AD-D1F18D5243A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259873-4894-A837-EB2B-C5B564B1D1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A6C6BE9-288D-4327-AD2A-D46155B2294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67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61E94A5-61F8-B94B-0B7C-D31B70CC6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A4E4E9-2982-B06F-A988-28B8DC036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CBD660-272B-DC97-F2A6-B07C095088B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98C4F17-6AF1-4CFF-A017-E51CB6B72D9E}" type="datetime1">
              <a:rPr lang="fr-FR"/>
              <a:pPr lvl="0"/>
              <a:t>24/09/2026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9A31C7-AA67-3F48-BC0B-D38D137DE97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91EBCA-A6F5-2B33-5471-C72B00B0C66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06043060-C603-443C-AE71-15EE5FC14608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umbs.dreamstime.com/b/la-terre-de-continents-se-composent-des-d&#233;chets-entour&#233;-par-l-eau-d-oc&#233;an-pollution-environnementale-concept-avec-en-plastique-150921660.jpg" TargetMode="External"/><Relationship Id="rId2" Type="http://schemas.openxmlformats.org/officeDocument/2006/relationships/hyperlink" Target="https://tse2.mm.bing.net/th/id/OIP.bpnX6APnYothm5L59SEBowHaHa?r=0&amp;rs=1&amp;pid=ImgDetMain&amp;o=7&amp;rm=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y-clope.com/wp-content/uploads/2021/10/classification-dechets.png" TargetMode="External"/><Relationship Id="rId4" Type="http://schemas.openxmlformats.org/officeDocument/2006/relationships/hyperlink" Target="https://as1.ftcdn.net/v2/jpg/06/16/41/06/1000_F_616410649_W1ZCrQBBNzBmE2siJW2IFM8MiPG6M4om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FF15FE-322B-800F-D608-BD272A3E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753" y="1071442"/>
            <a:ext cx="4140014" cy="1330839"/>
          </a:xfrm>
        </p:spPr>
        <p:txBody>
          <a:bodyPr>
            <a:normAutofit/>
          </a:bodyPr>
          <a:lstStyle/>
          <a:p>
            <a:r>
              <a:rPr lang="fr-FR"/>
              <a:t>Les Déchets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C83FC10-C6AB-BB8C-B038-400BB9B7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823130-0802-D0D3-E7E9-9D0AF08D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49" y="3059340"/>
            <a:ext cx="5476568" cy="1886286"/>
          </a:xfrm>
        </p:spPr>
        <p:txBody>
          <a:bodyPr>
            <a:normAutofit fontScale="47500" lnSpcReduction="20000"/>
          </a:bodyPr>
          <a:lstStyle/>
          <a:p>
            <a:r>
              <a:rPr lang="en-US" sz="3500" err="1">
                <a:solidFill>
                  <a:schemeClr val="tx1">
                    <a:alpha val="80000"/>
                  </a:schemeClr>
                </a:solidFill>
              </a:rPr>
              <a:t>Elaboré</a:t>
            </a:r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 par : </a:t>
            </a:r>
          </a:p>
          <a:p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GUILLAUME Bella		</a:t>
            </a:r>
          </a:p>
          <a:p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BHIKI Giovany</a:t>
            </a:r>
          </a:p>
          <a:p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VOUTEAU Nathaniel</a:t>
            </a:r>
          </a:p>
          <a:p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DJIWA Fiacre</a:t>
            </a:r>
          </a:p>
          <a:p>
            <a:r>
              <a:rPr lang="en-US" sz="3500">
                <a:solidFill>
                  <a:schemeClr val="tx1">
                    <a:alpha val="80000"/>
                  </a:schemeClr>
                </a:solidFill>
              </a:rPr>
              <a:t>ADOLPHE David</a:t>
            </a:r>
          </a:p>
          <a:p>
            <a:pPr marL="0" indent="0">
              <a:buNone/>
            </a:pPr>
            <a:endParaRPr lang="en-US" sz="35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CFD58A-3796-D5FE-ED1B-2D412947D500}"/>
              </a:ext>
            </a:extLst>
          </p:cNvPr>
          <p:cNvSpPr txBox="1"/>
          <p:nvPr/>
        </p:nvSpPr>
        <p:spPr>
          <a:xfrm>
            <a:off x="6937007" y="2172395"/>
            <a:ext cx="412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/>
              <a:t>Nos déchets d’aujourd’hui façonnent le monde de demain.</a:t>
            </a:r>
          </a:p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A8163D0-3094-38D9-C469-8C5B9E7A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031" y="81283"/>
            <a:ext cx="1510072" cy="15100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435D790-4D2C-8D5C-3341-60761D821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872" y="5360555"/>
            <a:ext cx="3193128" cy="13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0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435A67-157E-40DE-89C1-0F2F865C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534" y="2005781"/>
            <a:ext cx="4195674" cy="808980"/>
          </a:xfrm>
        </p:spPr>
        <p:txBody>
          <a:bodyPr anchor="b">
            <a:normAutofit fontScale="90000"/>
          </a:bodyPr>
          <a:lstStyle/>
          <a:p>
            <a:r>
              <a:rPr lang="fr-FR" sz="5600"/>
              <a:t>Les Déchets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8C6821-3893-B5CE-9BD8-0DB79E57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" b="-3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</p:spPr>
      </p:pic>
      <p:sp>
        <p:nvSpPr>
          <p:cNvPr id="16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C17181-38A0-7196-468E-8B49231E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3959" y="3069475"/>
            <a:ext cx="4195673" cy="2397260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Elaboré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par : 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GUILLAUME Bella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BHIKI Giovany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VOUTEAU Nathaniel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DJIWA Fiacre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ADOLPHE David</a:t>
            </a:r>
          </a:p>
          <a:p>
            <a:pPr marL="0" indent="0">
              <a:buNone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Etudiants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FI2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Energetique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5B9B4886-6D8E-C7AE-85BF-14F1FFBCCFB5}"/>
              </a:ext>
            </a:extLst>
          </p:cNvPr>
          <p:cNvSpPr txBox="1"/>
          <p:nvPr/>
        </p:nvSpPr>
        <p:spPr>
          <a:xfrm>
            <a:off x="521110" y="6388650"/>
            <a:ext cx="618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/>
              <a:t>Nos déchets d’aujourd’hui façonnent le monde de demain.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D5581F-DF8E-9C27-C3C2-C65C8E8B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307" y="96979"/>
            <a:ext cx="1511939" cy="151193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59F6563-AAAE-FE59-3714-33D7234C8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96" y="0"/>
            <a:ext cx="3194581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3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13DD5A-F2E4-C71B-F3B1-A062B42F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endParaRPr lang="fr-FR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9A8838-713D-C11D-0A53-8B654928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CC5E871-0F87-EEC7-606C-FD583FAA9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92892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8BF6E716-6C69-6A8B-A06B-8BA93D60B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3044" y="0"/>
            <a:ext cx="12188952" cy="6858000"/>
          </a:xfrm>
          <a:prstGeom prst="rect">
            <a:avLst/>
          </a:prstGeom>
          <a:solidFill>
            <a:srgbClr val="0E284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BD18E4C-F8BC-AE0B-9972-FB25016EA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527" y="0"/>
            <a:ext cx="12188952" cy="6858000"/>
          </a:xfrm>
          <a:prstGeom prst="rect">
            <a:avLst/>
          </a:prstGeom>
          <a:solidFill>
            <a:srgbClr val="000000">
              <a:alpha val="53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EB525F45-FCE4-0C46-41A1-B5D648DBB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64" y="837398"/>
            <a:ext cx="429768" cy="304797"/>
            <a:chOff x="54864" y="837398"/>
            <a:chExt cx="429768" cy="304797"/>
          </a:xfrm>
        </p:grpSpPr>
        <p:cxnSp>
          <p:nvCxnSpPr>
            <p:cNvPr id="5" name="Straight Connector 14">
              <a:extLst>
                <a:ext uri="{FF2B5EF4-FFF2-40B4-BE49-F238E27FC236}">
                  <a16:creationId xmlns:a16="http://schemas.microsoft.com/office/drawing/2014/main" id="{C0189B59-5D99-250D-98AA-B769E7B8F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6200004">
              <a:off x="269748" y="927311"/>
              <a:ext cx="0" cy="429768"/>
            </a:xfrm>
            <a:prstGeom prst="straightConnector1">
              <a:avLst/>
            </a:prstGeom>
            <a:noFill/>
            <a:ln w="25402" cap="flat">
              <a:solidFill>
                <a:srgbClr val="2D7FCF">
                  <a:alpha val="50000"/>
                </a:srgb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6" name="Straight Connector 15">
              <a:extLst>
                <a:ext uri="{FF2B5EF4-FFF2-40B4-BE49-F238E27FC236}">
                  <a16:creationId xmlns:a16="http://schemas.microsoft.com/office/drawing/2014/main" id="{F7EBFCE8-BE0C-89E7-FD0B-E3CAFD8A0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6200004">
              <a:off x="269748" y="825712"/>
              <a:ext cx="0" cy="429768"/>
            </a:xfrm>
            <a:prstGeom prst="straightConnector1">
              <a:avLst/>
            </a:prstGeom>
            <a:noFill/>
            <a:ln w="25402" cap="flat">
              <a:solidFill>
                <a:srgbClr val="2D7FCF">
                  <a:alpha val="50000"/>
                </a:srgb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7" name="Straight Connector 16">
              <a:extLst>
                <a:ext uri="{FF2B5EF4-FFF2-40B4-BE49-F238E27FC236}">
                  <a16:creationId xmlns:a16="http://schemas.microsoft.com/office/drawing/2014/main" id="{7E61E372-2AD5-61CB-9175-9A432792E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6200004">
              <a:off x="269748" y="724113"/>
              <a:ext cx="0" cy="429768"/>
            </a:xfrm>
            <a:prstGeom prst="straightConnector1">
              <a:avLst/>
            </a:prstGeom>
            <a:noFill/>
            <a:ln w="25402" cap="flat">
              <a:solidFill>
                <a:srgbClr val="2D7FCF">
                  <a:alpha val="50000"/>
                </a:srgb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8" name="Straight Connector 17">
              <a:extLst>
                <a:ext uri="{FF2B5EF4-FFF2-40B4-BE49-F238E27FC236}">
                  <a16:creationId xmlns:a16="http://schemas.microsoft.com/office/drawing/2014/main" id="{D861B26D-BF63-C856-88E1-AD6607C7B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6200004">
              <a:off x="269748" y="622514"/>
              <a:ext cx="0" cy="429768"/>
            </a:xfrm>
            <a:prstGeom prst="straightConnector1">
              <a:avLst/>
            </a:prstGeom>
            <a:noFill/>
            <a:ln w="25402" cap="flat">
              <a:solidFill>
                <a:srgbClr val="2D7FCF">
                  <a:alpha val="50000"/>
                </a:srgbClr>
              </a:solidFill>
              <a:custDash>
                <a:ds d="100000" sp="100000"/>
              </a:custDash>
              <a:miter/>
            </a:ln>
          </p:spPr>
        </p:cxn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39351677-A568-873C-18A6-44E5556C6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2075422"/>
            <a:ext cx="12048725" cy="4093305"/>
            <a:chOff x="0" y="2075422"/>
            <a:chExt cx="12048725" cy="4093305"/>
          </a:xfrm>
        </p:grpSpPr>
        <p:sp>
          <p:nvSpPr>
            <p:cNvPr id="10" name="Oval 20">
              <a:extLst>
                <a:ext uri="{FF2B5EF4-FFF2-40B4-BE49-F238E27FC236}">
                  <a16:creationId xmlns:a16="http://schemas.microsoft.com/office/drawing/2014/main" id="{F846BA5F-80DF-C8E8-5B93-E2741FAE8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4500011">
              <a:off x="7942185" y="2507568"/>
              <a:ext cx="3563874" cy="356387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1747" cap="flat">
              <a:solidFill>
                <a:srgbClr val="F1F1F1">
                  <a:alpha val="10000"/>
                </a:srgbClr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1" name="Oval 21">
              <a:extLst>
                <a:ext uri="{FF2B5EF4-FFF2-40B4-BE49-F238E27FC236}">
                  <a16:creationId xmlns:a16="http://schemas.microsoft.com/office/drawing/2014/main" id="{D4A7A60F-7B1E-2F99-D9EE-CBCF652E0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4">
              <a:off x="10435069" y="4048935"/>
              <a:ext cx="1381603" cy="138160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1747" cap="flat">
              <a:solidFill>
                <a:srgbClr val="F1F1F1">
                  <a:alpha val="20000"/>
                </a:srgbClr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2" name="Oval 22">
              <a:extLst>
                <a:ext uri="{FF2B5EF4-FFF2-40B4-BE49-F238E27FC236}">
                  <a16:creationId xmlns:a16="http://schemas.microsoft.com/office/drawing/2014/main" id="{177A12AC-99A3-5975-1FFB-04AB7EB0E5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4">
              <a:off x="0" y="2075422"/>
              <a:ext cx="3144365" cy="314436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AEAEAE">
                    <a:alpha val="20000"/>
                  </a:srgbClr>
                </a:gs>
                <a:gs pos="100000">
                  <a:srgbClr val="747474">
                    <a:alpha val="10000"/>
                  </a:srgbClr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6898ED22-EE53-A69B-530E-E02EB568F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2599995">
              <a:off x="10150843" y="4270845"/>
              <a:ext cx="1897882" cy="189788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adFill>
              <a:gsLst>
                <a:gs pos="0">
                  <a:srgbClr val="AEAEAE">
                    <a:alpha val="10000"/>
                  </a:srgbClr>
                </a:gs>
                <a:gs pos="100000">
                  <a:srgbClr val="AEAEAE">
                    <a:alpha val="20000"/>
                  </a:srgbClr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Oval 24">
              <a:extLst>
                <a:ext uri="{FF2B5EF4-FFF2-40B4-BE49-F238E27FC236}">
                  <a16:creationId xmlns:a16="http://schemas.microsoft.com/office/drawing/2014/main" id="{5AF87E15-6580-BE0C-4B22-ABB0D52A6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4500011">
              <a:off x="2046783" y="3040490"/>
              <a:ext cx="2579321" cy="2579321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1747" cap="flat">
              <a:solidFill>
                <a:srgbClr val="F1F1F1">
                  <a:alpha val="20000"/>
                </a:srgbClr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Oval 25">
              <a:extLst>
                <a:ext uri="{FF2B5EF4-FFF2-40B4-BE49-F238E27FC236}">
                  <a16:creationId xmlns:a16="http://schemas.microsoft.com/office/drawing/2014/main" id="{CD268954-220A-29CA-5E0E-58B1BD970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4500011">
              <a:off x="2224635" y="3193982"/>
              <a:ext cx="2243196" cy="224319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1747" cap="flat">
              <a:solidFill>
                <a:srgbClr val="F1F1F1">
                  <a:alpha val="10000"/>
                </a:srgbClr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sp>
        <p:nvSpPr>
          <p:cNvPr id="16" name="Rectangle 27">
            <a:extLst>
              <a:ext uri="{FF2B5EF4-FFF2-40B4-BE49-F238E27FC236}">
                <a16:creationId xmlns:a16="http://schemas.microsoft.com/office/drawing/2014/main" id="{1500D8ED-C39E-9E7F-5F8F-CD347EF2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6200004">
            <a:off x="10438141" y="1042599"/>
            <a:ext cx="2796463" cy="711247"/>
          </a:xfrm>
          <a:prstGeom prst="rect">
            <a:avLst/>
          </a:prstGeom>
          <a:gradFill>
            <a:gsLst>
              <a:gs pos="0">
                <a:srgbClr val="F6F6F6">
                  <a:alpha val="0"/>
                </a:srgbClr>
              </a:gs>
              <a:gs pos="100000">
                <a:srgbClr val="AEAEAE">
                  <a:alpha val="10000"/>
                </a:srgbClr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0347C46-678E-5B16-B971-05E9D91CB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59537" y="317580"/>
            <a:ext cx="548640" cy="549006"/>
            <a:chOff x="11259537" y="317580"/>
            <a:chExt cx="548640" cy="549006"/>
          </a:xfrm>
        </p:grpSpPr>
        <p:cxnSp>
          <p:nvCxnSpPr>
            <p:cNvPr id="18" name="Straight Connector 30">
              <a:extLst>
                <a:ext uri="{FF2B5EF4-FFF2-40B4-BE49-F238E27FC236}">
                  <a16:creationId xmlns:a16="http://schemas.microsoft.com/office/drawing/2014/main" id="{CA5AF7B4-CB5C-D495-180C-AC51D35E6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1259537" y="317580"/>
              <a:ext cx="548640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19" name="Straight Connector 31">
              <a:extLst>
                <a:ext uri="{FF2B5EF4-FFF2-40B4-BE49-F238E27FC236}">
                  <a16:creationId xmlns:a16="http://schemas.microsoft.com/office/drawing/2014/main" id="{1EE244ED-45E4-E397-5285-88AB2CB59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1259537" y="500579"/>
              <a:ext cx="548640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20" name="Straight Connector 32">
              <a:extLst>
                <a:ext uri="{FF2B5EF4-FFF2-40B4-BE49-F238E27FC236}">
                  <a16:creationId xmlns:a16="http://schemas.microsoft.com/office/drawing/2014/main" id="{7421AC5C-F0BE-BB0D-434D-13B2D316E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1259537" y="683578"/>
              <a:ext cx="548640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21" name="Straight Connector 33">
              <a:extLst>
                <a:ext uri="{FF2B5EF4-FFF2-40B4-BE49-F238E27FC236}">
                  <a16:creationId xmlns:a16="http://schemas.microsoft.com/office/drawing/2014/main" id="{E027C934-DD60-4C8E-67EF-A79772801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1259537" y="866586"/>
              <a:ext cx="548640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</p:grpSp>
      <p:sp>
        <p:nvSpPr>
          <p:cNvPr id="22" name="Rectangle 35">
            <a:extLst>
              <a:ext uri="{FF2B5EF4-FFF2-40B4-BE49-F238E27FC236}">
                <a16:creationId xmlns:a16="http://schemas.microsoft.com/office/drawing/2014/main" id="{1D0EBD9A-44DF-4246-5FF9-72DCAAFD6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799991">
            <a:off x="-1" y="6140790"/>
            <a:ext cx="6095993" cy="711247"/>
          </a:xfrm>
          <a:prstGeom prst="rect">
            <a:avLst/>
          </a:prstGeom>
          <a:gradFill>
            <a:gsLst>
              <a:gs pos="0">
                <a:srgbClr val="747474">
                  <a:alpha val="10000"/>
                </a:srgbClr>
              </a:gs>
              <a:gs pos="100000">
                <a:srgbClr val="F1F1F1">
                  <a:alpha val="0"/>
                </a:srgbClr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23" name="Group 37">
            <a:extLst>
              <a:ext uri="{FF2B5EF4-FFF2-40B4-BE49-F238E27FC236}">
                <a16:creationId xmlns:a16="http://schemas.microsoft.com/office/drawing/2014/main" id="{1DCB8170-EBE2-0C1C-2AB6-8089239E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4782" y="5572125"/>
            <a:ext cx="549006" cy="1285884"/>
            <a:chOff x="984782" y="5572125"/>
            <a:chExt cx="549006" cy="1285884"/>
          </a:xfrm>
        </p:grpSpPr>
        <p:cxnSp>
          <p:nvCxnSpPr>
            <p:cNvPr id="24" name="Straight Connector 38">
              <a:extLst>
                <a:ext uri="{FF2B5EF4-FFF2-40B4-BE49-F238E27FC236}">
                  <a16:creationId xmlns:a16="http://schemas.microsoft.com/office/drawing/2014/main" id="{77666CF4-A0AE-24D9-54DC-A3AF7CEA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5400013">
              <a:off x="890850" y="6215063"/>
              <a:ext cx="1285875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25" name="Straight Connector 39">
              <a:extLst>
                <a:ext uri="{FF2B5EF4-FFF2-40B4-BE49-F238E27FC236}">
                  <a16:creationId xmlns:a16="http://schemas.microsoft.com/office/drawing/2014/main" id="{8B245CAB-5F43-74BA-51E3-4054E0ECA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5400013">
              <a:off x="707850" y="6215063"/>
              <a:ext cx="1285875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26" name="Straight Connector 40">
              <a:extLst>
                <a:ext uri="{FF2B5EF4-FFF2-40B4-BE49-F238E27FC236}">
                  <a16:creationId xmlns:a16="http://schemas.microsoft.com/office/drawing/2014/main" id="{93F0ABB7-2304-2651-D024-75FD22EA9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5400013">
              <a:off x="524842" y="6215072"/>
              <a:ext cx="1285875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  <p:cxnSp>
          <p:nvCxnSpPr>
            <p:cNvPr id="27" name="Straight Connector 41">
              <a:extLst>
                <a:ext uri="{FF2B5EF4-FFF2-40B4-BE49-F238E27FC236}">
                  <a16:creationId xmlns:a16="http://schemas.microsoft.com/office/drawing/2014/main" id="{5D91F28C-A97E-B32C-2200-8146DE136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5400013">
              <a:off x="341844" y="6215063"/>
              <a:ext cx="1285875" cy="0"/>
            </a:xfrm>
            <a:prstGeom prst="straightConnector1">
              <a:avLst/>
            </a:prstGeom>
            <a:noFill/>
            <a:ln w="31747" cap="rnd">
              <a:solidFill>
                <a:srgbClr val="F1F1F1">
                  <a:alpha val="40000"/>
                </a:srgbClr>
              </a:solidFill>
              <a:custDash>
                <a:ds d="200000" sp="0"/>
              </a:custDash>
              <a:round/>
            </a:ln>
          </p:spPr>
        </p:cxn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5B49131E-A07E-4179-D875-A58A3B0E4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" y="495988"/>
            <a:ext cx="4195139" cy="5638830"/>
          </a:xfrm>
        </p:spPr>
        <p:txBody>
          <a:bodyPr/>
          <a:lstStyle/>
          <a:p>
            <a:pPr lvl="0"/>
            <a:r>
              <a:rPr lang="fr-FR" sz="4800">
                <a:solidFill>
                  <a:srgbClr val="FFFFFF"/>
                </a:solidFill>
              </a:rPr>
              <a:t>Sommaire :</a:t>
            </a:r>
          </a:p>
        </p:txBody>
      </p:sp>
      <p:sp>
        <p:nvSpPr>
          <p:cNvPr id="29" name="Espace réservé du numéro de diapositive 3">
            <a:extLst>
              <a:ext uri="{FF2B5EF4-FFF2-40B4-BE49-F238E27FC236}">
                <a16:creationId xmlns:a16="http://schemas.microsoft.com/office/drawing/2014/main" id="{0D24BBF7-E09D-D292-06AF-1D38AF72188D}"/>
              </a:ext>
            </a:extLst>
          </p:cNvPr>
          <p:cNvSpPr txBox="1"/>
          <p:nvPr/>
        </p:nvSpPr>
        <p:spPr>
          <a:xfrm>
            <a:off x="0" y="6309360"/>
            <a:ext cx="64008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21AFF74-C972-41D5-8653-CA3D53998F5A}" type="slidenum">
              <a:t>4</a:t>
            </a:fld>
            <a:endParaRPr lang="fr-FR" sz="12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30" name="Espace réservé du contenu 2">
            <a:extLst>
              <a:ext uri="{FF2B5EF4-FFF2-40B4-BE49-F238E27FC236}">
                <a16:creationId xmlns:a16="http://schemas.microsoft.com/office/drawing/2014/main" id="{CDA23F4E-C012-377E-FA40-2D6DA3CF8AFD}"/>
              </a:ext>
            </a:extLst>
          </p:cNvPr>
          <p:cNvGrpSpPr/>
          <p:nvPr/>
        </p:nvGrpSpPr>
        <p:grpSpPr>
          <a:xfrm>
            <a:off x="4915951" y="902384"/>
            <a:ext cx="6253718" cy="4984559"/>
            <a:chOff x="4915951" y="902384"/>
            <a:chExt cx="6253718" cy="4984559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E86B67E-A45C-88D2-B7C0-34F16B7D90E0}"/>
                </a:ext>
              </a:extLst>
            </p:cNvPr>
            <p:cNvSpPr/>
            <p:nvPr/>
          </p:nvSpPr>
          <p:spPr>
            <a:xfrm>
              <a:off x="4915951" y="902384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A02B93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I - Introduction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980E13-66D2-579B-345E-F6C87567BB9C}"/>
                </a:ext>
              </a:extLst>
            </p:cNvPr>
            <p:cNvSpPr/>
            <p:nvPr/>
          </p:nvSpPr>
          <p:spPr>
            <a:xfrm>
              <a:off x="4915951" y="1533741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752BA1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II - Impacte des déchets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79E5DFC-F150-72D8-CCC4-12335A49A4A1}"/>
                </a:ext>
              </a:extLst>
            </p:cNvPr>
            <p:cNvSpPr/>
            <p:nvPr/>
          </p:nvSpPr>
          <p:spPr>
            <a:xfrm>
              <a:off x="4915951" y="2165088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3D2CA2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III - Etude de cas : …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02B8DC-B6A1-EF7B-9F32-D56375BE9E21}"/>
                </a:ext>
              </a:extLst>
            </p:cNvPr>
            <p:cNvSpPr/>
            <p:nvPr/>
          </p:nvSpPr>
          <p:spPr>
            <a:xfrm>
              <a:off x="4915951" y="2796436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2C54A3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IV – Solutions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5AABF95-B990-832C-681E-1DEA9B11DB8E}"/>
                </a:ext>
              </a:extLst>
            </p:cNvPr>
            <p:cNvSpPr/>
            <p:nvPr/>
          </p:nvSpPr>
          <p:spPr>
            <a:xfrm>
              <a:off x="4915951" y="3427792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2D8EA4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V – Management environnemental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A4BC63-2F77-A075-4C0F-AB379AB7C288}"/>
                </a:ext>
              </a:extLst>
            </p:cNvPr>
            <p:cNvSpPr/>
            <p:nvPr/>
          </p:nvSpPr>
          <p:spPr>
            <a:xfrm>
              <a:off x="4915951" y="4059140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2DA581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VI – Justice Environnementale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D69534D-CFAE-DFB2-6C06-2DBA7546BD14}"/>
                </a:ext>
              </a:extLst>
            </p:cNvPr>
            <p:cNvSpPr/>
            <p:nvPr/>
          </p:nvSpPr>
          <p:spPr>
            <a:xfrm>
              <a:off x="4915951" y="4690487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2EA648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VII – Conclusion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9995D24-EAD0-F180-4409-C50CC712DC54}"/>
                </a:ext>
              </a:extLst>
            </p:cNvPr>
            <p:cNvSpPr/>
            <p:nvPr/>
          </p:nvSpPr>
          <p:spPr>
            <a:xfrm>
              <a:off x="4915951" y="5321835"/>
              <a:ext cx="6253718" cy="565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253721"/>
                <a:gd name="f7" fmla="val 565110"/>
                <a:gd name="f8" fmla="val 94187"/>
                <a:gd name="f9" fmla="val 42169"/>
                <a:gd name="f10" fmla="val 6159534"/>
                <a:gd name="f11" fmla="val 6211552"/>
                <a:gd name="f12" fmla="val 470923"/>
                <a:gd name="f13" fmla="val 522941"/>
                <a:gd name="f14" fmla="+- 0 0 -90"/>
                <a:gd name="f15" fmla="*/ f3 1 6253721"/>
                <a:gd name="f16" fmla="*/ f4 1 565110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6253721"/>
                <a:gd name="f25" fmla="*/ f21 1 565110"/>
                <a:gd name="f26" fmla="*/ 0 f22 1"/>
                <a:gd name="f27" fmla="*/ 94187 f21 1"/>
                <a:gd name="f28" fmla="*/ 94187 f22 1"/>
                <a:gd name="f29" fmla="*/ 0 f21 1"/>
                <a:gd name="f30" fmla="*/ 6159534 f22 1"/>
                <a:gd name="f31" fmla="*/ 6253721 f22 1"/>
                <a:gd name="f32" fmla="*/ 470923 f21 1"/>
                <a:gd name="f33" fmla="*/ 565110 f21 1"/>
                <a:gd name="f34" fmla="+- f23 0 f1"/>
                <a:gd name="f35" fmla="*/ f26 1 6253721"/>
                <a:gd name="f36" fmla="*/ f27 1 565110"/>
                <a:gd name="f37" fmla="*/ f28 1 6253721"/>
                <a:gd name="f38" fmla="*/ f29 1 565110"/>
                <a:gd name="f39" fmla="*/ f30 1 6253721"/>
                <a:gd name="f40" fmla="*/ f31 1 6253721"/>
                <a:gd name="f41" fmla="*/ f32 1 565110"/>
                <a:gd name="f42" fmla="*/ f33 1 565110"/>
                <a:gd name="f43" fmla="*/ f17 1 f24"/>
                <a:gd name="f44" fmla="*/ f18 1 f24"/>
                <a:gd name="f45" fmla="*/ f17 1 f25"/>
                <a:gd name="f46" fmla="*/ f19 1 f25"/>
                <a:gd name="f47" fmla="*/ f35 1 f24"/>
                <a:gd name="f48" fmla="*/ f36 1 f25"/>
                <a:gd name="f49" fmla="*/ f37 1 f24"/>
                <a:gd name="f50" fmla="*/ f38 1 f25"/>
                <a:gd name="f51" fmla="*/ f39 1 f24"/>
                <a:gd name="f52" fmla="*/ f40 1 f24"/>
                <a:gd name="f53" fmla="*/ f41 1 f25"/>
                <a:gd name="f54" fmla="*/ f42 1 f25"/>
                <a:gd name="f55" fmla="*/ f43 f15 1"/>
                <a:gd name="f56" fmla="*/ f44 f15 1"/>
                <a:gd name="f57" fmla="*/ f46 f16 1"/>
                <a:gd name="f58" fmla="*/ f45 f16 1"/>
                <a:gd name="f59" fmla="*/ f47 f15 1"/>
                <a:gd name="f60" fmla="*/ f48 f16 1"/>
                <a:gd name="f61" fmla="*/ f49 f15 1"/>
                <a:gd name="f62" fmla="*/ f50 f16 1"/>
                <a:gd name="f63" fmla="*/ f51 f15 1"/>
                <a:gd name="f64" fmla="*/ f52 f15 1"/>
                <a:gd name="f65" fmla="*/ f53 f16 1"/>
                <a:gd name="f66" fmla="*/ f5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9" y="f60"/>
                </a:cxn>
                <a:cxn ang="f34">
                  <a:pos x="f61" y="f62"/>
                </a:cxn>
                <a:cxn ang="f34">
                  <a:pos x="f63" y="f62"/>
                </a:cxn>
                <a:cxn ang="f34">
                  <a:pos x="f64" y="f60"/>
                </a:cxn>
                <a:cxn ang="f34">
                  <a:pos x="f64" y="f65"/>
                </a:cxn>
                <a:cxn ang="f34">
                  <a:pos x="f63" y="f66"/>
                </a:cxn>
                <a:cxn ang="f34">
                  <a:pos x="f61" y="f66"/>
                </a:cxn>
                <a:cxn ang="f34">
                  <a:pos x="f59" y="f65"/>
                </a:cxn>
                <a:cxn ang="f34">
                  <a:pos x="f59" y="f60"/>
                </a:cxn>
              </a:cxnLst>
              <a:rect l="f55" t="f58" r="f56" b="f57"/>
              <a:pathLst>
                <a:path w="6253721" h="565110">
                  <a:moveTo>
                    <a:pt x="f5" y="f8"/>
                  </a:moveTo>
                  <a:cubicBezTo>
                    <a:pt x="f5" y="f9"/>
                    <a:pt x="f9" y="f5"/>
                    <a:pt x="f8" y="f5"/>
                  </a:cubicBezTo>
                  <a:lnTo>
                    <a:pt x="f10" y="f5"/>
                  </a:lnTo>
                  <a:cubicBezTo>
                    <a:pt x="f11" y="f5"/>
                    <a:pt x="f6" y="f9"/>
                    <a:pt x="f6" y="f8"/>
                  </a:cubicBezTo>
                  <a:lnTo>
                    <a:pt x="f6" y="f12"/>
                  </a:lnTo>
                  <a:cubicBezTo>
                    <a:pt x="f6" y="f13"/>
                    <a:pt x="f11" y="f7"/>
                    <a:pt x="f10" y="f7"/>
                  </a:cubicBezTo>
                  <a:lnTo>
                    <a:pt x="f8" y="f7"/>
                  </a:lnTo>
                  <a:cubicBezTo>
                    <a:pt x="f9" y="f7"/>
                    <a:pt x="f5" y="f13"/>
                    <a:pt x="f5" y="f12"/>
                  </a:cubicBezTo>
                  <a:lnTo>
                    <a:pt x="f5" y="f8"/>
                  </a:lnTo>
                  <a:close/>
                </a:path>
              </a:pathLst>
            </a:custGeom>
            <a:solidFill>
              <a:srgbClr val="4EA7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115214" tIns="115214" rIns="115214" bIns="115214" anchor="ctr" anchorCtr="0" compatLnSpc="1">
              <a:noAutofit/>
            </a:bodyPr>
            <a:lstStyle/>
            <a:p>
              <a:pPr marL="0" marR="0" lvl="0" indent="0" algn="l" defTabSz="10223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23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VIII – Bibliographie</a:t>
              </a:r>
              <a:endParaRPr lang="en-US" sz="23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96EF7-87CD-FC7F-CB80-9A488D207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fr-FR"/>
              <a:t>I - 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E6C1E-7910-F102-2730-1E273E1FEFE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9F271F-4083-B90B-D72A-4AAFAF891BEC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FB8D85-0CD3-43C3-BCE9-5D15B380A250}" type="slidenum">
              <a:t>5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054F3395-DF4A-0837-2351-12EE42FA3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DD5986B8-1E21-4BBF-3929-FDD03808C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Espace réservé du contenu 3" descr="Déchets Non Inertes Définition – VKMAXC">
            <a:extLst>
              <a:ext uri="{FF2B5EF4-FFF2-40B4-BE49-F238E27FC236}">
                <a16:creationId xmlns:a16="http://schemas.microsoft.com/office/drawing/2014/main" id="{CD905D5D-F59D-E5D1-4C77-C3D2ABD46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41" r="2548" b="4"/>
          <a:stretch>
            <a:fillRect/>
          </a:stretch>
        </p:blipFill>
        <p:spPr>
          <a:xfrm>
            <a:off x="6096012" y="9"/>
            <a:ext cx="6096003" cy="6857990"/>
          </a:xfr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51429C95-F02F-2062-3E32-D67252D46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818" y="5234318"/>
            <a:ext cx="6931316" cy="752212"/>
          </a:xfrm>
        </p:spPr>
        <p:txBody>
          <a:bodyPr anchor="b"/>
          <a:lstStyle/>
          <a:p>
            <a:pPr lvl="0"/>
            <a:r>
              <a:rPr lang="en-US" sz="3600">
                <a:solidFill>
                  <a:srgbClr val="262626"/>
                </a:solidFill>
              </a:rPr>
              <a:t>II- Impacte des déchets </a:t>
            </a:r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76523B19-61BC-0B23-25F0-DEC000E2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8" r="6528" b="-1"/>
          <a:stretch>
            <a:fillRect/>
          </a:stretch>
        </p:blipFill>
        <p:spPr>
          <a:xfrm>
            <a:off x="-5385" y="9"/>
            <a:ext cx="6169520" cy="51588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Espace réservé du numéro de diapositive 4">
            <a:extLst>
              <a:ext uri="{FF2B5EF4-FFF2-40B4-BE49-F238E27FC236}">
                <a16:creationId xmlns:a16="http://schemas.microsoft.com/office/drawing/2014/main" id="{8A927609-440D-1195-77FC-18401D8C3F92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E497F8-3F14-494E-B985-14183D63F369}" type="slidenum">
              <a:t>6</a:t>
            </a:fld>
            <a:endParaRPr lang="en-US" sz="10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D5170-9509-40E0-FD99-F3A152492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/>
          <a:p>
            <a:pPr lvl="0"/>
            <a:r>
              <a:rPr lang="fr-FR"/>
              <a:t>III – Etude de cas…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6B063962-81D9-0F9E-81E2-904F815F6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332" y="1858280"/>
            <a:ext cx="4360535" cy="4351336"/>
          </a:xfr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AF2A79F5-3475-C8CF-486A-C3CE69B0D0E7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5C525B7-4796-4D96-A730-164F8008C950}" type="slidenum">
              <a:t>7</a:t>
            </a:fld>
            <a:endParaRPr lang="fr-FR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33CC9647-0613-0DDF-5DF1-71E5B9FC7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0871B79-C44F-C7B1-6FB7-5FA6D144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0"/>
            <a:ext cx="12191996" cy="159074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04862"/>
              </a:gs>
            </a:gsLst>
            <a:lin ang="8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3DDF70A-1A14-4C72-C2E1-7277981B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9" y="-1"/>
            <a:ext cx="8115309" cy="1590745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B3041">
                  <a:alpha val="55000"/>
                </a:srgbClr>
              </a:gs>
            </a:gsLst>
            <a:lin ang="13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6830344-D5FD-045F-AC80-B806D8004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115300" y="0"/>
            <a:ext cx="4076696" cy="1590745"/>
          </a:xfrm>
          <a:prstGeom prst="rect">
            <a:avLst/>
          </a:prstGeom>
          <a:gradFill>
            <a:gsLst>
              <a:gs pos="0">
                <a:srgbClr val="156082">
                  <a:alpha val="66000"/>
                </a:srgb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A10C8BB-3CF2-82EB-2DA3-B3A473583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9348" y="0"/>
            <a:ext cx="11732648" cy="159742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B3041">
                  <a:alpha val="52000"/>
                </a:srgbClr>
              </a:gs>
            </a:gsLst>
            <a:lin ang="168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A4D7D63-BAA7-488D-DCC2-BE961DDE9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294537"/>
            <a:ext cx="9895947" cy="1033665"/>
          </a:xfrm>
        </p:spPr>
        <p:txBody>
          <a:bodyPr/>
          <a:lstStyle/>
          <a:p>
            <a:pPr lvl="0"/>
            <a:r>
              <a:rPr lang="fr-FR" sz="4000">
                <a:solidFill>
                  <a:srgbClr val="FFFFFF"/>
                </a:solidFill>
              </a:rPr>
              <a:t>Bibliographie :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0E9E6D6-4868-4D83-5A00-C0E5EA0167D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318196"/>
            <a:ext cx="9724031" cy="3683358"/>
          </a:xfrm>
        </p:spPr>
        <p:txBody>
          <a:bodyPr anchor="ctr"/>
          <a:lstStyle/>
          <a:p>
            <a:pPr marL="0" lvl="0" indent="0">
              <a:buNone/>
            </a:pPr>
            <a:endParaRPr lang="fr-FR" sz="2000"/>
          </a:p>
          <a:p>
            <a:pPr lvl="0"/>
            <a:r>
              <a:rPr lang="fr-FR" sz="20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https://tse2.mm.bing.net/th/id/OIP.bpnX6APnYothm5L59SEBowHaHa?r=0&amp;rs=1&amp;pid=ImgDetMain&amp;o=7&amp;rm=3</a:t>
            </a:r>
            <a:r>
              <a:rPr lang="fr-FR" sz="2000"/>
              <a:t> </a:t>
            </a:r>
          </a:p>
          <a:p>
            <a:pPr lvl="0"/>
            <a:r>
              <a:rPr lang="fr-FR" sz="20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https://thumbs.dreamstime.com/b/la-terre-de-continents-se-composent-des-d%C3%A9chets-entour%C3%A9-par-l-eau-d-oc%C3%A9an-pollution-environnementale-concept-avec-en-plastique-150921660.jpg</a:t>
            </a:r>
            <a:r>
              <a:rPr lang="fr-FR" sz="2000"/>
              <a:t> </a:t>
            </a:r>
          </a:p>
          <a:p>
            <a:pPr lvl="0"/>
            <a:r>
              <a:rPr lang="fr-FR" sz="20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https://as1.ftcdn.net/v2/jpg/06/16/41/06/1000_F_616410649_W1ZCrQBBNzBmE2siJW2IFM8MiPG6M4om.jpg</a:t>
            </a:r>
            <a:r>
              <a:rPr lang="fr-FR" sz="2000"/>
              <a:t> </a:t>
            </a:r>
          </a:p>
          <a:p>
            <a:pPr lvl="0"/>
            <a:r>
              <a:rPr lang="fr-FR" sz="200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https://cy-clope.com/wp-content/uploads/2021/10/classification-dechets.png</a:t>
            </a:r>
            <a:r>
              <a:rPr lang="fr-FR" sz="2000"/>
              <a:t> </a:t>
            </a:r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7A383989-747F-63DE-1EFE-78CBA044D72D}"/>
              </a:ext>
            </a:extLst>
          </p:cNvPr>
          <p:cNvSpPr txBox="1"/>
          <p:nvPr/>
        </p:nvSpPr>
        <p:spPr>
          <a:xfrm>
            <a:off x="11704320" y="6455435"/>
            <a:ext cx="44591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 lnSpcReduction="10000"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81A3FE-1AD8-4035-B9A8-BEA57832A291}" type="slidenum">
              <a:t>8</a:t>
            </a:fld>
            <a:endParaRPr lang="fr-FR" sz="1100" b="0" i="0" u="none" strike="noStrike" kern="1200" cap="none" spc="0" baseline="0">
              <a:solidFill>
                <a:srgbClr val="7F7F7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8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Les Déchets</vt:lpstr>
      <vt:lpstr>Les Déchets</vt:lpstr>
      <vt:lpstr>Présentation PowerPoint</vt:lpstr>
      <vt:lpstr>Sommaire :</vt:lpstr>
      <vt:lpstr>I -  Introduction</vt:lpstr>
      <vt:lpstr>II- Impacte des déchets </vt:lpstr>
      <vt:lpstr>III – Etude de cas…</vt:lpstr>
      <vt:lpstr>Bibliographie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Déchets</dc:title>
  <dc:creator>Bella GLM</dc:creator>
  <cp:lastModifiedBy>Bella GLM</cp:lastModifiedBy>
  <cp:revision>1</cp:revision>
  <dcterms:created xsi:type="dcterms:W3CDTF">2026-09-24T20:44:18Z</dcterms:created>
  <dcterms:modified xsi:type="dcterms:W3CDTF">2026-09-24T21:35:19Z</dcterms:modified>
</cp:coreProperties>
</file>